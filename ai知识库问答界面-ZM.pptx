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6969"/>
                </a:solidFill>
                <a:latin typeface="Arial" panose="020B0604020202020204"/>
              </a:rPr>
              <a:t>AI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62179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21212"/>
                </a:solidFill>
                <a:latin typeface="Microsoft YaHei" panose="020B0503020204020204" charset="-122"/>
              </a:rPr>
              <a:t>AI知识库
问答界面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730752"/>
            <a:ext cx="914400" cy="32004"/>
          </a:xfrm>
          <a:prstGeom prst="rect">
            <a:avLst/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617220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6969"/>
                </a:solidFill>
                <a:latin typeface="Arial" panose="020B0604020202020204"/>
              </a:rPr>
              <a:t>PRODUCT OVERVIEW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0"/>
            <a:ext cx="4828032" cy="6858000"/>
          </a:xfrm>
          <a:prstGeom prst="rect">
            <a:avLst/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2148840"/>
            <a:ext cx="3611880" cy="10972"/>
          </a:xfrm>
          <a:prstGeom prst="rect">
            <a:avLst/>
          </a:prstGeom>
          <a:solidFill>
            <a:srgbClr val="4C4C4C"/>
          </a:solidFill>
          <a:ln w="10160">
            <a:solidFill>
              <a:srgbClr val="4C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4871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19191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45059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 panose="020B0503020204020204" charset="-122"/>
              </a:rPr>
              <a:t>会话界面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200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19191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1638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 panose="020B0503020204020204" charset="-122"/>
              </a:rPr>
              <a:t>知识库界面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91363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19191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8770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 panose="020B0503020204020204" charset="-122"/>
              </a:rPr>
              <a:t>测验模式界面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62686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19191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459028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 panose="020B0503020204020204" charset="-122"/>
              </a:rPr>
              <a:t>技术架构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619963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C8C8C"/>
                </a:solidFill>
                <a:latin typeface="Arial" panose="020B0604020202020204"/>
              </a:rPr>
              <a:t>MINIMAL / MONOCHROME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AI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9260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PRODUCT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01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2179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7680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6969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713232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212"/>
                </a:solidFill>
                <a:latin typeface="Microsoft YaHei" panose="020B0503020204020204" charset="-122"/>
              </a:rPr>
              <a:t>会话界面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572768"/>
            <a:ext cx="7479792" cy="4553712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" y="1499616"/>
            <a:ext cx="7479792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nterfac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1858"/>
            <a:ext cx="7168896" cy="38692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645919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96969"/>
                </a:solidFill>
                <a:latin typeface="Arial" panose="020B0604020202020204"/>
              </a:rPr>
              <a:t>INTERFACE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499616"/>
            <a:ext cx="3127248" cy="4553712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AAAAAA"/>
                </a:solidFill>
                <a:latin typeface="Microsoft YaHei" panose="020B0503020204020204" charset="-122"/>
              </a:rPr>
              <a:t>主要功能  /  KEY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66543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 panose="020B0503020204020204" charset="-122"/>
              </a:rPr>
              <a:t>会话界面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560320"/>
            <a:ext cx="2615184" cy="10972"/>
          </a:xfrm>
          <a:prstGeom prst="rect">
            <a:avLst/>
          </a:prstGeom>
          <a:solidFill>
            <a:srgbClr val="414141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7614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7432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可选知识库文件夹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48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32766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可选对话模型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282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8100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可暂停输出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3616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43434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根据知识库里内容回答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895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8768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在右侧显示知识库中参考片段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4284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54102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导出会话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163056"/>
            <a:ext cx="128016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6208776"/>
            <a:ext cx="1280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知识库增强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6163056"/>
            <a:ext cx="114300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94560" y="6208776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流式输出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6163056"/>
            <a:ext cx="128016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6208776"/>
            <a:ext cx="1280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多格式导出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0" y="654710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96969"/>
                </a:solidFill>
                <a:latin typeface="Arial" panose="020B0604020202020204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AI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9260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PRODUCT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02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2179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7680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6969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713232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212"/>
                </a:solidFill>
                <a:latin typeface="Microsoft YaHei" panose="020B0503020204020204" charset="-122"/>
              </a:rPr>
              <a:t>知识库界面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572768"/>
            <a:ext cx="7479792" cy="4553712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" y="1499616"/>
            <a:ext cx="7479792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nterfac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5859"/>
            <a:ext cx="7168896" cy="2881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645919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96969"/>
                </a:solidFill>
                <a:latin typeface="Arial" panose="020B0604020202020204"/>
              </a:rPr>
              <a:t>INTERFACE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499616"/>
            <a:ext cx="3127248" cy="4553712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AAAAAA"/>
                </a:solidFill>
                <a:latin typeface="Microsoft YaHei" panose="020B0503020204020204" charset="-122"/>
              </a:rPr>
              <a:t>主要功能  /  KEY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66543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 panose="020B0503020204020204" charset="-122"/>
              </a:rPr>
              <a:t>知识库界面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560320"/>
            <a:ext cx="2615184" cy="10972"/>
          </a:xfrm>
          <a:prstGeom prst="rect">
            <a:avLst/>
          </a:prstGeom>
          <a:solidFill>
            <a:srgbClr val="414141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7614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7432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新建文件夹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48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32766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删除 重命名文件夹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282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8100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上传文字文档并解析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3616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43434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添加文档简介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895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8768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删除文档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4284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54102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文件预览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163056"/>
            <a:ext cx="114300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6218936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文档解析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6163056"/>
            <a:ext cx="114300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6208776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章节切分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6163056"/>
            <a:ext cx="114300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7560" y="6208776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语义检索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654710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96969"/>
                </a:solidFill>
                <a:latin typeface="Microsoft YaHei" panose="020B0503020204020204" charset="-122"/>
              </a:rPr>
              <a:t>产品功能与技术架构概览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4710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96969"/>
                </a:solidFill>
                <a:latin typeface="Arial" panose="020B0604020202020204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AI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9260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PRODUCT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03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2179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7680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6969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713232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212"/>
                </a:solidFill>
                <a:latin typeface="Microsoft YaHei" panose="020B0503020204020204" charset="-122"/>
              </a:rPr>
              <a:t>测验模式界面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572768"/>
            <a:ext cx="7479792" cy="4553712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" y="1499616"/>
            <a:ext cx="7479792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nterfac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3130"/>
            <a:ext cx="7168896" cy="38866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645919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96969"/>
                </a:solidFill>
                <a:latin typeface="Arial" panose="020B0604020202020204"/>
              </a:rPr>
              <a:t>INTERFACE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499616"/>
            <a:ext cx="3127248" cy="4553712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2615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AAAAAA"/>
                </a:solidFill>
                <a:latin typeface="Microsoft YaHei" panose="020B0503020204020204" charset="-122"/>
              </a:rPr>
              <a:t>主要功能  /  KEY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66543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 panose="020B0503020204020204" charset="-122"/>
              </a:rPr>
              <a:t>测验模式界面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560320"/>
            <a:ext cx="2615184" cy="10972"/>
          </a:xfrm>
          <a:prstGeom prst="rect">
            <a:avLst/>
          </a:prstGeom>
          <a:solidFill>
            <a:srgbClr val="414141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7614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7432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AI随机生成选择题测试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48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32766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查看答案和解析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282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8100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查看测试记录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3616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43434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导出excel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895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876800"/>
            <a:ext cx="221284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FFFFFF"/>
                </a:solidFill>
                <a:latin typeface="Microsoft YaHei" panose="020B0503020204020204" charset="-122"/>
              </a:rPr>
              <a:t>错题本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4284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969696"/>
                </a:solidFill>
                <a:latin typeface="Arial" panose="020B0604020202020204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5410200"/>
            <a:ext cx="2212848" cy="173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 panose="020B0503020204020204" charset="-122"/>
              </a:rPr>
              <a:t>AI解析：可将原题再次发送给 AI讲解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163056"/>
            <a:ext cx="1417319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6208776"/>
            <a:ext cx="1417319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章节均匀取材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6163056"/>
            <a:ext cx="114300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31720" y="6208776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错题追踪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79" y="6163056"/>
            <a:ext cx="1691640" cy="2286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11879" y="6208776"/>
            <a:ext cx="169164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62626"/>
                </a:solidFill>
                <a:latin typeface="Microsoft YaHei" panose="020B0503020204020204" charset="-122"/>
              </a:rPr>
              <a:t>Excel 导出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0" y="654710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96969"/>
                </a:solidFill>
                <a:latin typeface="Arial" panose="020B0604020202020204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AI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9260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9260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04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2179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7680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6969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44752"/>
            <a:ext cx="258775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6642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56816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212"/>
                </a:solidFill>
                <a:latin typeface="Microsoft YaHei" panose="020B0503020204020204" charset="-122"/>
              </a:rPr>
              <a:t>页面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450592"/>
            <a:ext cx="214884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Microsoft YaHei" panose="020B0503020204020204" charset="-122"/>
              </a:rPr>
              <a:t>页面：typescript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272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96969"/>
                </a:solidFill>
                <a:latin typeface="Microsoft YaHei" panose="020B0503020204020204" charset="-122"/>
              </a:rPr>
              <a:t>原生 DOM 动态渲染与交互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30428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6969"/>
                </a:solidFill>
                <a:latin typeface="Arial" panose="020B0604020202020204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444752"/>
            <a:ext cx="258775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84448" y="16642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1956816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212"/>
                </a:solidFill>
                <a:latin typeface="Microsoft YaHei" panose="020B0503020204020204" charset="-122"/>
              </a:rPr>
              <a:t>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2450592"/>
            <a:ext cx="214884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62432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Microsoft YaHei" panose="020B0503020204020204" charset="-122"/>
              </a:rPr>
              <a:t>后端：python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1272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dirty="0" err="1">
                <a:solidFill>
                  <a:srgbClr val="696969"/>
                </a:solidFill>
                <a:latin typeface="Microsoft YaHei" panose="020B0503020204020204" charset="-122"/>
              </a:rPr>
              <a:t>FastAPI</a:t>
            </a:r>
            <a:r>
              <a:rPr sz="780" b="0" dirty="0">
                <a:solidFill>
                  <a:srgbClr val="696969"/>
                </a:solidFill>
                <a:latin typeface="Microsoft YaHei" panose="020B0503020204020204" charset="-122"/>
              </a:rPr>
              <a:t> </a:t>
            </a:r>
            <a:r>
              <a:rPr sz="780" b="0" dirty="0" err="1">
                <a:solidFill>
                  <a:srgbClr val="696969"/>
                </a:solidFill>
                <a:latin typeface="Microsoft YaHei" panose="020B0503020204020204" charset="-122"/>
              </a:rPr>
              <a:t>提供登录、文件与</a:t>
            </a:r>
            <a:r>
              <a:rPr sz="780" b="0" dirty="0">
                <a:solidFill>
                  <a:srgbClr val="696969"/>
                </a:solidFill>
                <a:latin typeface="Microsoft YaHei" panose="020B0503020204020204" charset="-122"/>
              </a:rPr>
              <a:t> AI </a:t>
            </a:r>
            <a:r>
              <a:rPr sz="780" b="0" dirty="0" err="1">
                <a:solidFill>
                  <a:srgbClr val="696969"/>
                </a:solidFill>
                <a:latin typeface="Microsoft YaHei" panose="020B0503020204020204" charset="-122"/>
              </a:rPr>
              <a:t>接口</a:t>
            </a:r>
            <a:endParaRPr sz="780" b="0" dirty="0">
              <a:solidFill>
                <a:srgbClr val="696969"/>
              </a:solidFill>
              <a:latin typeface="Microsoft YaHei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80176" y="230428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6969"/>
                </a:solidFill>
                <a:latin typeface="Arial" panose="020B0604020202020204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1444752"/>
            <a:ext cx="258775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16642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956816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212"/>
                </a:solidFill>
                <a:latin typeface="Microsoft YaHei" panose="020B0503020204020204" charset="-122"/>
              </a:rPr>
              <a:t>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2450592"/>
            <a:ext cx="214884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7648" y="262432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Microsoft YaHei" panose="020B0503020204020204" charset="-122"/>
              </a:rPr>
              <a:t>模型调用：Deepseek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1272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96969"/>
                </a:solidFill>
                <a:latin typeface="Microsoft YaHei" panose="020B0503020204020204" charset="-122"/>
              </a:rPr>
              <a:t>流式生成问答、测验与解析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230428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6969"/>
                </a:solidFill>
                <a:latin typeface="Arial" panose="020B0604020202020204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1392" y="1444752"/>
            <a:ext cx="258775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0848" y="16642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6969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1956816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212"/>
                </a:solidFill>
                <a:latin typeface="Microsoft YaHei" panose="020B0503020204020204" charset="-122"/>
              </a:rPr>
              <a:t>数据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70848" y="2450592"/>
            <a:ext cx="214884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0848" y="262432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Microsoft YaHei" panose="020B0503020204020204" charset="-122"/>
              </a:rPr>
              <a:t>数据存储：MySQL，保存用户、历史会话、登录和文件数据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1272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96969"/>
                </a:solidFill>
                <a:latin typeface="Microsoft YaHei" panose="020B0503020204020204" charset="-122"/>
              </a:rPr>
              <a:t>账号隔离与跨浏览器同步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3840480"/>
            <a:ext cx="10927080" cy="150876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1016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40965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9B9B9B"/>
                </a:solidFill>
                <a:latin typeface="Arial" panose="020B0604020202020204"/>
              </a:rPr>
              <a:t>KNOWLEDGE RETRIEVAL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41655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知识库检索：Qdrant 本地向量库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4279392"/>
            <a:ext cx="1298448" cy="603504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016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446227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Microsoft YaHei" panose="020B0503020204020204" charset="-122"/>
              </a:rPr>
              <a:t>章节切分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443984"/>
            <a:ext cx="283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69696"/>
                </a:solidFill>
                <a:latin typeface="Arial" panose="020B0604020202020204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9320" y="4279392"/>
            <a:ext cx="1298448" cy="603504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016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9320" y="446227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Microsoft YaHei" panose="020B0503020204020204" charset="-122"/>
              </a:rPr>
              <a:t>文本分块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443984"/>
            <a:ext cx="283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69696"/>
                </a:solidFill>
                <a:latin typeface="Arial" panose="020B0604020202020204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4279392"/>
            <a:ext cx="1298448" cy="603504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016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46227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Microsoft YaHei" panose="020B0503020204020204" charset="-122"/>
              </a:rPr>
              <a:t>向量检索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19" y="4443984"/>
            <a:ext cx="283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69696"/>
                </a:solidFill>
                <a:latin typeface="Arial" panose="020B0604020202020204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81160" y="4279392"/>
            <a:ext cx="1298448" cy="603504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016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81160" y="446227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FFFF"/>
                </a:solidFill>
                <a:latin typeface="Microsoft YaHei" panose="020B0503020204020204" charset="-122"/>
              </a:rPr>
              <a:t>参考片段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4974336"/>
            <a:ext cx="6492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dirty="0">
                <a:solidFill>
                  <a:srgbClr val="919191"/>
                </a:solidFill>
                <a:latin typeface="Arial" panose="020B0604020202020204"/>
              </a:rPr>
              <a:t>BAAI/bge-small-zh-v1.5 · </a:t>
            </a:r>
            <a:r>
              <a:rPr sz="750" b="0" dirty="0" err="1">
                <a:solidFill>
                  <a:srgbClr val="919191"/>
                </a:solidFill>
                <a:latin typeface="Arial" panose="020B0604020202020204"/>
              </a:rPr>
              <a:t>语义相似度检索</a:t>
            </a:r>
            <a:r>
              <a:rPr sz="750" b="0" dirty="0">
                <a:solidFill>
                  <a:srgbClr val="919191"/>
                </a:solidFill>
                <a:latin typeface="Arial" panose="020B0604020202020204"/>
              </a:rPr>
              <a:t> · </a:t>
            </a:r>
            <a:r>
              <a:rPr sz="750" b="0" dirty="0" err="1">
                <a:solidFill>
                  <a:srgbClr val="919191"/>
                </a:solidFill>
                <a:latin typeface="Arial" panose="020B0604020202020204"/>
              </a:rPr>
              <a:t>用户数据隔离</a:t>
            </a:r>
            <a:endParaRPr sz="750" b="0" dirty="0">
              <a:solidFill>
                <a:srgbClr val="919191"/>
              </a:solidFill>
              <a:latin typeface="Arial" panose="020B0604020202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1792" y="563270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96969"/>
                </a:solidFill>
                <a:latin typeface="Arial" panose="020B0604020202020204"/>
              </a:rPr>
              <a:t>SYSTEM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0784" y="5596128"/>
            <a:ext cx="7909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Arial" panose="020B0604020202020204"/>
              </a:rPr>
              <a:t>TypeScript → Python / FastAPI → DeepSeek API → MySQL + Qdrant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D2D2D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972800" y="654710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96969"/>
                </a:solidFill>
                <a:latin typeface="Arial" panose="020B0604020202020204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219</Words>
  <Application>Microsoft Office PowerPoint</Application>
  <PresentationFormat>宽屏</PresentationFormat>
  <Paragraphs>121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AI知识库问答界面｜黑白简约版</dc:title>
  <dc:subject>产品功能与技术架构概览</dc:subject>
  <dc:creator>AI知识库项目组</dc:creator>
  <cp:keywords>AI, 知识库, 问答, 测验, TypeScript, Python</cp:keywords>
  <dc:description>generated using python-pptx</dc:description>
  <cp:lastModifiedBy>. Zheng</cp:lastModifiedBy>
  <cp:revision>4</cp:revision>
  <dcterms:created xsi:type="dcterms:W3CDTF">2013-01-27T09:14:00Z</dcterms:created>
  <dcterms:modified xsi:type="dcterms:W3CDTF">2026-08-26T07:09:49Z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01407C0D762046F093F1418A565C1FD5_12</vt:lpwstr>
  </property>
  <property fmtid="{D5CDD505-2E9C-101B-9397-08002B2CF9AE}" pid="3" name="KSOProductBuildVer">
    <vt:lpwstr>2052-12.1.0.28043</vt:lpwstr>
  </property>
</Properties>
</file>